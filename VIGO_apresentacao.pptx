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C1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C1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7955279" y="-914400"/>
            <a:ext cx="5486400" cy="8686800"/>
          </a:xfrm>
          <a:prstGeom prst="parallelogram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E5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24AA8"/>
                </a:solidFill>
                <a:latin typeface="Segoe UI"/>
              </a:rPr>
              <a:t>APRESENTAÇÃO DO SISTEMA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74519"/>
            <a:ext cx="9601200" cy="155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7600" b="1">
                <a:solidFill>
                  <a:srgbClr val="FFFFFF"/>
                </a:solidFill>
                <a:latin typeface="Segoe UI"/>
              </a:rPr>
              <a:t>VIGO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306324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0">
                <a:solidFill>
                  <a:srgbClr val="FFFFFF"/>
                </a:solidFill>
                <a:latin typeface="Segoe UI"/>
              </a:rPr>
              <a:t>Vistoria de Ocorrências de Grande Vulto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977639"/>
            <a:ext cx="8686800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D9CFEC"/>
                </a:solidFill>
                <a:latin typeface="Segoe UI"/>
              </a:rPr>
              <a:t>Gestão de vistorias da rede externa e notificação automática de ocorrências no WhatsApp.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63550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FFFFFF"/>
                </a:solidFill>
                <a:latin typeface="Segoe UI"/>
              </a:rPr>
              <a:t>Painel Admin · Fila de vistorias · Reports por Empresa · Reports Regional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5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E5007E"/>
                </a:solidFill>
                <a:latin typeface="Segoe UI"/>
              </a:rPr>
              <a:t>VISÃO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4C127A"/>
                </a:solidFill>
                <a:latin typeface="Segoe UI"/>
              </a:rPr>
              <a:t>O que é o VIGO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5577840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211B3A"/>
                </a:solidFill>
                <a:latin typeface="Segoe UI"/>
              </a:rPr>
              <a:t>Plataforma web que organiza a </a:t>
            </a:r>
            <a:r>
              <a:rPr sz="1500" b="1">
                <a:solidFill>
                  <a:srgbClr val="211B3A"/>
                </a:solidFill>
                <a:latin typeface="Segoe UI"/>
              </a:rPr>
              <a:t>vistoria das ocorrências de maior impacto</a:t>
            </a:r>
            <a:r>
              <a:rPr sz="1500" b="0">
                <a:solidFill>
                  <a:srgbClr val="211B3A"/>
                </a:solidFill>
                <a:latin typeface="Segoe UI"/>
              </a:rPr>
              <a:t> da rede externa e </a:t>
            </a:r>
            <a:r>
              <a:rPr sz="1500" b="1">
                <a:solidFill>
                  <a:srgbClr val="211B3A"/>
                </a:solidFill>
                <a:latin typeface="Segoe UI"/>
              </a:rPr>
              <a:t>avisa os times no WhatsApp</a:t>
            </a:r>
            <a:r>
              <a:rPr sz="1500" b="0">
                <a:solidFill>
                  <a:srgbClr val="211B3A"/>
                </a:solidFill>
                <a:latin typeface="Segoe UI"/>
              </a:rPr>
              <a:t> — do momento em que a ocorrência entra até o encerramento.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990088"/>
            <a:ext cx="100584" cy="100584"/>
          </a:xfrm>
          <a:prstGeom prst="ellipse">
            <a:avLst/>
          </a:prstGeom>
          <a:solidFill>
            <a:srgbClr val="E5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926080"/>
            <a:ext cx="523036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11B3A"/>
                </a:solidFill>
                <a:latin typeface="Segoe UI"/>
              </a:rPr>
              <a:t>Fila de vistorias priorizada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3236976"/>
            <a:ext cx="5230368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6B7280"/>
                </a:solidFill>
                <a:latin typeface="Segoe UI"/>
              </a:rPr>
              <a:t>As ocorrências relevantes chegam prontas para o vistoriador atuar.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831336"/>
            <a:ext cx="100584" cy="100584"/>
          </a:xfrm>
          <a:prstGeom prst="ellipse">
            <a:avLst/>
          </a:prstGeom>
          <a:solidFill>
            <a:srgbClr val="E5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3767328"/>
            <a:ext cx="523036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11B3A"/>
                </a:solidFill>
                <a:latin typeface="Segoe UI"/>
              </a:rPr>
              <a:t>Checklist, fotos e encerramento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078224"/>
            <a:ext cx="5230368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6B7280"/>
                </a:solidFill>
                <a:latin typeface="Segoe UI"/>
              </a:rPr>
              <a:t>Registro padronizado de cada vistoria, com trilha de auditoria.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672584"/>
            <a:ext cx="100584" cy="100584"/>
          </a:xfrm>
          <a:prstGeom prst="ellipse">
            <a:avLst/>
          </a:prstGeom>
          <a:solidFill>
            <a:srgbClr val="E5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4608576"/>
            <a:ext cx="523036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11B3A"/>
                </a:solidFill>
                <a:latin typeface="Segoe UI"/>
              </a:rPr>
              <a:t>Notificação automática no WhatsApp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4919472"/>
            <a:ext cx="5230368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6B7280"/>
                </a:solidFill>
                <a:latin typeface="Segoe UI"/>
              </a:rPr>
              <a:t>Times avisados em tempo real, sem ninguém copiar e colar mensagem.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46520" y="1554480"/>
            <a:ext cx="5212080" cy="4206240"/>
          </a:xfrm>
          <a:prstGeom prst="roundRect">
            <a:avLst/>
          </a:prstGeom>
          <a:solidFill>
            <a:srgbClr val="F6F4FB"/>
          </a:solidFill>
          <a:ln w="12700">
            <a:solidFill>
              <a:srgbClr val="E3DDF0"/>
            </a:solidFill>
          </a:ln>
          <a:effectLst/>
          <a:effectLst>
            <a:outerShdw blurRad="90000" dist="40000" dir="5400000" rotWithShape="0">
              <a:srgbClr val="1B12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0" y="182880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E5007E"/>
                </a:solidFill>
                <a:latin typeface="Segoe UI"/>
              </a:rPr>
              <a:t>Em uma frase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286000"/>
            <a:ext cx="4617720" cy="3291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>
                <a:solidFill>
                  <a:srgbClr val="211B3A"/>
                </a:solidFill>
                <a:latin typeface="Segoe UI"/>
              </a:rPr>
              <a:t>“Enxergar rápido a ocorrência que importa, 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>
                <a:solidFill>
                  <a:srgbClr val="211B3A"/>
                </a:solidFill>
                <a:latin typeface="Segoe UI"/>
              </a:rPr>
              <a:t>registrar a vistoria com padrão e 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>
                <a:solidFill>
                  <a:srgbClr val="211B3A"/>
                </a:solidFill>
                <a:latin typeface="Segoe UI"/>
              </a:rPr>
              <a:t>cobrar o que fica parado — 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>
                <a:solidFill>
                  <a:srgbClr val="E5007E"/>
                </a:solidFill>
                <a:latin typeface="Segoe UI"/>
              </a:rPr>
              <a:t>com o time avisado no WhatsApp.”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AA1AD"/>
                </a:solidFill>
                <a:latin typeface="Segoe UI"/>
              </a:rPr>
              <a:t>VIGO · Vistoria de Ocorrências de Grande Vulto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0" y="6455664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AA1AD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5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E5007E"/>
                </a:solidFill>
                <a:latin typeface="Segoe UI"/>
              </a:rPr>
              <a:t>POR QUE EXISTE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4C127A"/>
                </a:solidFill>
                <a:latin typeface="Segoe UI"/>
              </a:rPr>
              <a:t>Do problema à solução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349240" cy="4297680"/>
          </a:xfrm>
          <a:prstGeom prst="roundRect">
            <a:avLst/>
          </a:prstGeom>
          <a:solidFill>
            <a:srgbClr val="FDF2F6"/>
          </a:solidFill>
          <a:ln w="12700">
            <a:solidFill>
              <a:srgbClr val="F6C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E5007E"/>
                </a:solidFill>
                <a:latin typeface="Segoe UI"/>
              </a:rPr>
              <a:t>O problema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532888"/>
            <a:ext cx="100584" cy="100584"/>
          </a:xfrm>
          <a:prstGeom prst="ellipse">
            <a:avLst/>
          </a:prstGeom>
          <a:solidFill>
            <a:srgbClr val="E5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24712" y="2468880"/>
            <a:ext cx="440740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211B3A"/>
                </a:solidFill>
                <a:latin typeface="Segoe UI"/>
              </a:rPr>
              <a:t>Ocorrências de grande afetação diluídas no meio de milhares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3026664"/>
            <a:ext cx="100584" cy="100584"/>
          </a:xfrm>
          <a:prstGeom prst="ellipse">
            <a:avLst/>
          </a:prstGeom>
          <a:solidFill>
            <a:srgbClr val="E5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24712" y="2962656"/>
            <a:ext cx="440740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211B3A"/>
                </a:solidFill>
                <a:latin typeface="Segoe UI"/>
              </a:rPr>
              <a:t>Vistorias sem padrão e sem trilha do que foi feito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3520440"/>
            <a:ext cx="100584" cy="100584"/>
          </a:xfrm>
          <a:prstGeom prst="ellipse">
            <a:avLst/>
          </a:prstGeom>
          <a:solidFill>
            <a:srgbClr val="E5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24712" y="3456432"/>
            <a:ext cx="440740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211B3A"/>
                </a:solidFill>
                <a:latin typeface="Segoe UI"/>
              </a:rPr>
              <a:t>Avisos manuais no WhatsApp — atrasados e inconsistentes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4014216"/>
            <a:ext cx="100584" cy="100584"/>
          </a:xfrm>
          <a:prstGeom prst="ellipse">
            <a:avLst/>
          </a:prstGeom>
          <a:solidFill>
            <a:srgbClr val="E5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24712" y="3950208"/>
            <a:ext cx="440740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211B3A"/>
                </a:solidFill>
                <a:latin typeface="Segoe UI"/>
              </a:rPr>
              <a:t>Ocorrência parada sem ninguém cobrar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1645920"/>
            <a:ext cx="5349240" cy="4297680"/>
          </a:xfrm>
          <a:prstGeom prst="roundRect">
            <a:avLst/>
          </a:prstGeom>
          <a:solidFill>
            <a:srgbClr val="F1F8F3"/>
          </a:solidFill>
          <a:ln w="12700">
            <a:solidFill>
              <a:srgbClr val="C7E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9400" y="1874519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16A34A"/>
                </a:solidFill>
                <a:latin typeface="Segoe UI"/>
              </a:rPr>
              <a:t>O que o VIGO faz</a:t>
            </a:r>
          </a:p>
        </p:txBody>
      </p:sp>
      <p:sp>
        <p:nvSpPr>
          <p:cNvPr id="18" name="Oval 17"/>
          <p:cNvSpPr/>
          <p:nvPr/>
        </p:nvSpPr>
        <p:spPr>
          <a:xfrm>
            <a:off x="6629400" y="2532888"/>
            <a:ext cx="100584" cy="100584"/>
          </a:xfrm>
          <a:prstGeom prst="ellipse">
            <a:avLst/>
          </a:prstGeom>
          <a:solidFill>
            <a:srgbClr val="E5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85432" y="2468880"/>
            <a:ext cx="440740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211B3A"/>
                </a:solidFill>
                <a:latin typeface="Segoe UI"/>
              </a:rPr>
              <a:t>Recorta e prioriza o que precisa de vistoria</a:t>
            </a:r>
          </a:p>
        </p:txBody>
      </p:sp>
      <p:sp>
        <p:nvSpPr>
          <p:cNvPr id="20" name="Oval 19"/>
          <p:cNvSpPr/>
          <p:nvPr/>
        </p:nvSpPr>
        <p:spPr>
          <a:xfrm>
            <a:off x="6629400" y="3026664"/>
            <a:ext cx="100584" cy="100584"/>
          </a:xfrm>
          <a:prstGeom prst="ellipse">
            <a:avLst/>
          </a:prstGeom>
          <a:solidFill>
            <a:srgbClr val="E5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85432" y="2962656"/>
            <a:ext cx="440740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211B3A"/>
                </a:solidFill>
                <a:latin typeface="Segoe UI"/>
              </a:rPr>
              <a:t>Padroniza a vistoria (checklist + fotos + auditoria)</a:t>
            </a:r>
          </a:p>
        </p:txBody>
      </p:sp>
      <p:sp>
        <p:nvSpPr>
          <p:cNvPr id="22" name="Oval 21"/>
          <p:cNvSpPr/>
          <p:nvPr/>
        </p:nvSpPr>
        <p:spPr>
          <a:xfrm>
            <a:off x="6629400" y="3520440"/>
            <a:ext cx="100584" cy="100584"/>
          </a:xfrm>
          <a:prstGeom prst="ellipse">
            <a:avLst/>
          </a:prstGeom>
          <a:solidFill>
            <a:srgbClr val="E5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85432" y="3456432"/>
            <a:ext cx="440740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211B3A"/>
                </a:solidFill>
                <a:latin typeface="Segoe UI"/>
              </a:rPr>
              <a:t>Notifica o grupo certo, automaticamente</a:t>
            </a:r>
          </a:p>
        </p:txBody>
      </p:sp>
      <p:sp>
        <p:nvSpPr>
          <p:cNvPr id="24" name="Oval 23"/>
          <p:cNvSpPr/>
          <p:nvPr/>
        </p:nvSpPr>
        <p:spPr>
          <a:xfrm>
            <a:off x="6629400" y="4014216"/>
            <a:ext cx="100584" cy="100584"/>
          </a:xfrm>
          <a:prstGeom prst="ellipse">
            <a:avLst/>
          </a:prstGeom>
          <a:solidFill>
            <a:srgbClr val="E5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85432" y="3950208"/>
            <a:ext cx="440740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211B3A"/>
                </a:solidFill>
                <a:latin typeface="Segoe UI"/>
              </a:rPr>
              <a:t>Escala a cobrança do que segue aberto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AA1AD"/>
                </a:solidFill>
                <a:latin typeface="Segoe UI"/>
              </a:rPr>
              <a:t>VIGO · Vistoria de Ocorrências de Grande Vulto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24160" y="6455664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AA1AD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5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E5007E"/>
                </a:solidFill>
                <a:latin typeface="Segoe UI"/>
              </a:rPr>
              <a:t>A PORTA DE ENTRADA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4C127A"/>
                </a:solidFill>
                <a:latin typeface="Segoe UI"/>
              </a:rPr>
              <a:t>Dashboard inicial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6B7280"/>
                </a:solidFill>
                <a:latin typeface="Segoe UI"/>
              </a:rPr>
              <a:t>Primeira tela após o login: visão do dia e atalhos para as áreas do sistema.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57400"/>
            <a:ext cx="11091672" cy="4160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3DDF0"/>
            </a:solidFill>
          </a:ln>
          <a:effectLst/>
          <a:effectLst>
            <a:outerShdw blurRad="90000" dist="40000" dir="5400000" rotWithShape="0">
              <a:srgbClr val="1B12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611880"/>
            <a:ext cx="11091672" cy="10972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9AA1AD"/>
                </a:solidFill>
                <a:latin typeface="Segoe UI"/>
              </a:rPr>
              <a:t>🖼️  PRINT AQUI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9AA1AD"/>
                </a:solidFill>
                <a:latin typeface="Segoe UI"/>
              </a:rPr>
              <a:t>salve como  shots/01-dashboard.png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2636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E5007E"/>
                </a:solidFill>
                <a:latin typeface="Segoe UI"/>
              </a:rPr>
              <a:t>Tela: /dashboard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AA1AD"/>
                </a:solidFill>
                <a:latin typeface="Segoe UI"/>
              </a:rPr>
              <a:t>VIGO · Vistoria de Ocorrências de Grande Vulto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0" y="6455664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AA1AD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5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E5007E"/>
                </a:solidFill>
                <a:latin typeface="Segoe UI"/>
              </a:rPr>
              <a:t>COMO FUNCIONA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4C127A"/>
                </a:solidFill>
                <a:latin typeface="Segoe UI"/>
              </a:rPr>
              <a:t>O fluxo de uma vistoria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77440"/>
            <a:ext cx="2514600" cy="2194560"/>
          </a:xfrm>
          <a:prstGeom prst="roundRect">
            <a:avLst/>
          </a:prstGeom>
          <a:solidFill>
            <a:srgbClr val="F6F4FB"/>
          </a:solidFill>
          <a:ln w="12700">
            <a:solidFill>
              <a:srgbClr val="E3DDF0"/>
            </a:solidFill>
          </a:ln>
          <a:effectLst/>
          <a:effectLst>
            <a:outerShdw blurRad="90000" dist="40000" dir="5400000" rotWithShape="0">
              <a:srgbClr val="1B12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04672" y="2633472"/>
            <a:ext cx="658368" cy="658368"/>
          </a:xfrm>
          <a:prstGeom prst="ellipse">
            <a:avLst/>
          </a:prstGeom>
          <a:solidFill>
            <a:srgbClr val="E5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679192"/>
            <a:ext cx="658368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3429000"/>
            <a:ext cx="20574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4C127A"/>
                </a:solidFill>
                <a:latin typeface="Segoe UI"/>
              </a:rPr>
              <a:t>Entra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3858768"/>
            <a:ext cx="205740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6B7280"/>
                </a:solidFill>
                <a:latin typeface="Segoe UI"/>
              </a:rPr>
              <a:t>A ocorrência relevante
cai na fila do VIGO</a:t>
            </a:r>
          </a:p>
        </p:txBody>
      </p:sp>
      <p:sp>
        <p:nvSpPr>
          <p:cNvPr id="11" name="Chevron 10"/>
          <p:cNvSpPr/>
          <p:nvPr/>
        </p:nvSpPr>
        <p:spPr>
          <a:xfrm>
            <a:off x="3081528" y="3291840"/>
            <a:ext cx="347472" cy="365760"/>
          </a:xfrm>
          <a:prstGeom prst="chevron">
            <a:avLst/>
          </a:prstGeom>
          <a:solidFill>
            <a:srgbClr val="F24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47288" y="2377440"/>
            <a:ext cx="2514600" cy="2194560"/>
          </a:xfrm>
          <a:prstGeom prst="roundRect">
            <a:avLst/>
          </a:prstGeom>
          <a:solidFill>
            <a:srgbClr val="F6F4FB"/>
          </a:solidFill>
          <a:ln w="12700">
            <a:solidFill>
              <a:srgbClr val="E3DDF0"/>
            </a:solidFill>
          </a:ln>
          <a:effectLst/>
          <a:effectLst>
            <a:outerShdw blurRad="90000" dist="40000" dir="5400000" rotWithShape="0">
              <a:srgbClr val="1B12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703320" y="2633472"/>
            <a:ext cx="658368" cy="658368"/>
          </a:xfrm>
          <a:prstGeom prst="ellipse">
            <a:avLst/>
          </a:prstGeom>
          <a:solidFill>
            <a:srgbClr val="E5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03320" y="2679192"/>
            <a:ext cx="658368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3429000"/>
            <a:ext cx="20574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4C127A"/>
                </a:solidFill>
                <a:latin typeface="Segoe UI"/>
              </a:rPr>
              <a:t>Vistoria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3858768"/>
            <a:ext cx="205740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6B7280"/>
                </a:solidFill>
                <a:latin typeface="Segoe UI"/>
              </a:rPr>
              <a:t>O vistoriador atua com
checklist e fotos</a:t>
            </a:r>
          </a:p>
        </p:txBody>
      </p:sp>
      <p:sp>
        <p:nvSpPr>
          <p:cNvPr id="17" name="Chevron 16"/>
          <p:cNvSpPr/>
          <p:nvPr/>
        </p:nvSpPr>
        <p:spPr>
          <a:xfrm>
            <a:off x="5980176" y="3291840"/>
            <a:ext cx="347472" cy="365760"/>
          </a:xfrm>
          <a:prstGeom prst="chevron">
            <a:avLst/>
          </a:prstGeom>
          <a:solidFill>
            <a:srgbClr val="F24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45936" y="2377440"/>
            <a:ext cx="2514600" cy="2194560"/>
          </a:xfrm>
          <a:prstGeom prst="roundRect">
            <a:avLst/>
          </a:prstGeom>
          <a:solidFill>
            <a:srgbClr val="F6F4FB"/>
          </a:solidFill>
          <a:ln w="12700">
            <a:solidFill>
              <a:srgbClr val="E3DDF0"/>
            </a:solidFill>
          </a:ln>
          <a:effectLst/>
          <a:effectLst>
            <a:outerShdw blurRad="90000" dist="40000" dir="5400000" rotWithShape="0">
              <a:srgbClr val="1B12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601968" y="2633472"/>
            <a:ext cx="658368" cy="658368"/>
          </a:xfrm>
          <a:prstGeom prst="ellipse">
            <a:avLst/>
          </a:prstGeom>
          <a:solidFill>
            <a:srgbClr val="E5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01968" y="2679192"/>
            <a:ext cx="658368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01968" y="3429000"/>
            <a:ext cx="20574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4C127A"/>
                </a:solidFill>
                <a:latin typeface="Segoe UI"/>
              </a:rPr>
              <a:t>Registro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3858768"/>
            <a:ext cx="205740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6B7280"/>
                </a:solidFill>
                <a:latin typeface="Segoe UI"/>
              </a:rPr>
              <a:t>Tudo fica gravado,
com trilha de auditoria</a:t>
            </a:r>
          </a:p>
        </p:txBody>
      </p:sp>
      <p:sp>
        <p:nvSpPr>
          <p:cNvPr id="23" name="Chevron 22"/>
          <p:cNvSpPr/>
          <p:nvPr/>
        </p:nvSpPr>
        <p:spPr>
          <a:xfrm>
            <a:off x="8878824" y="3291840"/>
            <a:ext cx="347472" cy="365760"/>
          </a:xfrm>
          <a:prstGeom prst="chevron">
            <a:avLst/>
          </a:prstGeom>
          <a:solidFill>
            <a:srgbClr val="F24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244584" y="2377440"/>
            <a:ext cx="2514600" cy="2194560"/>
          </a:xfrm>
          <a:prstGeom prst="roundRect">
            <a:avLst/>
          </a:prstGeom>
          <a:solidFill>
            <a:srgbClr val="F6F4FB"/>
          </a:solidFill>
          <a:ln w="12700">
            <a:solidFill>
              <a:srgbClr val="E3DDF0"/>
            </a:solidFill>
          </a:ln>
          <a:effectLst/>
          <a:effectLst>
            <a:outerShdw blurRad="90000" dist="40000" dir="5400000" rotWithShape="0">
              <a:srgbClr val="1B12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0616" y="2633472"/>
            <a:ext cx="658368" cy="658368"/>
          </a:xfrm>
          <a:prstGeom prst="ellipse">
            <a:avLst/>
          </a:prstGeom>
          <a:solidFill>
            <a:srgbClr val="E5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0616" y="2679192"/>
            <a:ext cx="658368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0616" y="3429000"/>
            <a:ext cx="20574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4C127A"/>
                </a:solidFill>
                <a:latin typeface="Segoe UI"/>
              </a:rPr>
              <a:t>Encerra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0616" y="3858768"/>
            <a:ext cx="205740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6B7280"/>
                </a:solidFill>
                <a:latin typeface="Segoe UI"/>
              </a:rPr>
              <a:t>Ocorrência concluída;
o grupo é avisado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02920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211B3A"/>
                </a:solidFill>
                <a:latin typeface="Segoe UI"/>
              </a:rPr>
              <a:t>Em paralelo, o VIGO vigia o tempo em aberto: o que passa de 12h/24h </a:t>
            </a:r>
            <a:r>
              <a:rPr sz="1400" b="1">
                <a:solidFill>
                  <a:srgbClr val="E5007E"/>
                </a:solidFill>
                <a:latin typeface="Segoe UI"/>
              </a:rPr>
              <a:t>é cobrado automaticamente</a:t>
            </a:r>
            <a:r>
              <a:rPr sz="1400" b="0">
                <a:solidFill>
                  <a:srgbClr val="211B3A"/>
                </a:solidFill>
                <a:latin typeface="Segoe UI"/>
              </a:rPr>
              <a:t> no grupo — a “escalada”.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AA1AD"/>
                </a:solidFill>
                <a:latin typeface="Segoe UI"/>
              </a:rPr>
              <a:t>VIGO · Vistoria de Ocorrências de Grande Vulto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24160" y="6455664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AA1AD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5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E5007E"/>
                </a:solidFill>
                <a:latin typeface="Segoe UI"/>
              </a:rPr>
              <a:t>NÚCLEO DO SISTEMA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4C127A"/>
                </a:solidFill>
                <a:latin typeface="Segoe UI"/>
              </a:rPr>
              <a:t>Ocorrências &amp; vistorias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6B7280"/>
                </a:solidFill>
                <a:latin typeface="Segoe UI"/>
              </a:rPr>
              <a:t>Fila das ocorrências: status, dados da rede e ações de vistoria em um só lugar.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57400"/>
            <a:ext cx="11091672" cy="4160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3DDF0"/>
            </a:solidFill>
          </a:ln>
          <a:effectLst/>
          <a:effectLst>
            <a:outerShdw blurRad="90000" dist="40000" dir="5400000" rotWithShape="0">
              <a:srgbClr val="1B12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611880"/>
            <a:ext cx="11091672" cy="10972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9AA1AD"/>
                </a:solidFill>
                <a:latin typeface="Segoe UI"/>
              </a:rPr>
              <a:t>🖼️  PRINT AQUI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9AA1AD"/>
                </a:solidFill>
                <a:latin typeface="Segoe UI"/>
              </a:rPr>
              <a:t>salve como  shots/03-ocorrencias.png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2636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E5007E"/>
                </a:solidFill>
                <a:latin typeface="Segoe UI"/>
              </a:rPr>
              <a:t>Tela: /admin/ocorrencias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AA1AD"/>
                </a:solidFill>
                <a:latin typeface="Segoe UI"/>
              </a:rPr>
              <a:t>VIGO · Vistoria de Ocorrências de Grande Vulto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0" y="6455664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AA1AD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5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E5007E"/>
                </a:solidFill>
                <a:latin typeface="Segoe UI"/>
              </a:rPr>
              <a:t>CENTRAL DE CONTROLE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4C127A"/>
                </a:solidFill>
                <a:latin typeface="Segoe UI"/>
              </a:rPr>
              <a:t>Painel Admin — os módulos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6B7280"/>
                </a:solidFill>
                <a:latin typeface="Segoe UI"/>
              </a:rPr>
              <a:t>Hub do administrador: importação, usuários, WhatsApp e os módulos de report.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57400"/>
            <a:ext cx="11091672" cy="4160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3DDF0"/>
            </a:solidFill>
          </a:ln>
          <a:effectLst/>
          <a:effectLst>
            <a:outerShdw blurRad="90000" dist="40000" dir="5400000" rotWithShape="0">
              <a:srgbClr val="1B12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611880"/>
            <a:ext cx="11091672" cy="10972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9AA1AD"/>
                </a:solidFill>
                <a:latin typeface="Segoe UI"/>
              </a:rPr>
              <a:t>🖼️  PRINT AQUI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9AA1AD"/>
                </a:solidFill>
                <a:latin typeface="Segoe UI"/>
              </a:rPr>
              <a:t>salve como  shots/02-hub-admin.png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2636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E5007E"/>
                </a:solidFill>
                <a:latin typeface="Segoe UI"/>
              </a:rPr>
              <a:t>Tela: /admin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AA1AD"/>
                </a:solidFill>
                <a:latin typeface="Segoe UI"/>
              </a:rPr>
              <a:t>VIGO · Vistoria de Ocorrências de Grande Vulto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0" y="6455664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AA1AD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5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E5007E"/>
                </a:solidFill>
                <a:latin typeface="Segoe UI"/>
              </a:rPr>
              <a:t>NOTIFICAÇÕES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4C127A"/>
                </a:solidFill>
                <a:latin typeface="Segoe UI"/>
              </a:rPr>
              <a:t>Avisos no WhatsApp — dois módulos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2377440" cy="1188720"/>
          </a:xfrm>
          <a:prstGeom prst="roundRect">
            <a:avLst/>
          </a:prstGeom>
          <a:solidFill>
            <a:srgbClr val="6A1B9A"/>
          </a:solidFill>
          <a:ln>
            <a:noFill/>
          </a:ln>
          <a:effectLst/>
          <a:effectLst>
            <a:outerShdw blurRad="90000" dist="40000" dir="5400000" rotWithShape="0">
              <a:srgbClr val="1B12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746504"/>
            <a:ext cx="2157984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Base da rede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167128"/>
            <a:ext cx="2157984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FFFFFF"/>
                </a:solidFill>
                <a:latin typeface="Segoe UI"/>
              </a:rPr>
              <a:t>Importação automática
a cada poucos minutos</a:t>
            </a:r>
          </a:p>
        </p:txBody>
      </p:sp>
      <p:sp>
        <p:nvSpPr>
          <p:cNvPr id="9" name="Chevron 8"/>
          <p:cNvSpPr/>
          <p:nvPr/>
        </p:nvSpPr>
        <p:spPr>
          <a:xfrm>
            <a:off x="2971800" y="2011680"/>
            <a:ext cx="457200" cy="365760"/>
          </a:xfrm>
          <a:prstGeom prst="chevron">
            <a:avLst/>
          </a:prstGeom>
          <a:solidFill>
            <a:srgbClr val="F24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520440" y="1600200"/>
            <a:ext cx="2377440" cy="1188720"/>
          </a:xfrm>
          <a:prstGeom prst="roundRect">
            <a:avLst/>
          </a:prstGeom>
          <a:solidFill>
            <a:srgbClr val="4C127A"/>
          </a:solidFill>
          <a:ln>
            <a:noFill/>
          </a:ln>
          <a:effectLst/>
          <a:effectLst>
            <a:outerShdw blurRad="90000" dist="40000" dir="5400000" rotWithShape="0">
              <a:srgbClr val="1B12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0168" y="1746504"/>
            <a:ext cx="2157984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VIGO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0168" y="2167128"/>
            <a:ext cx="2157984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FFFFFF"/>
                </a:solidFill>
                <a:latin typeface="Segoe UI"/>
              </a:rPr>
              <a:t>Recorta, prioriza
e decide o aviso</a:t>
            </a:r>
          </a:p>
        </p:txBody>
      </p:sp>
      <p:sp>
        <p:nvSpPr>
          <p:cNvPr id="13" name="Chevron 12"/>
          <p:cNvSpPr/>
          <p:nvPr/>
        </p:nvSpPr>
        <p:spPr>
          <a:xfrm>
            <a:off x="5943600" y="2011680"/>
            <a:ext cx="457200" cy="365760"/>
          </a:xfrm>
          <a:prstGeom prst="chevron">
            <a:avLst/>
          </a:prstGeom>
          <a:solidFill>
            <a:srgbClr val="F24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92240" y="1600200"/>
            <a:ext cx="2377440" cy="1188720"/>
          </a:xfrm>
          <a:prstGeom prst="roundRect">
            <a:avLst/>
          </a:prstGeom>
          <a:solidFill>
            <a:srgbClr val="258A4A"/>
          </a:solidFill>
          <a:ln>
            <a:noFill/>
          </a:ln>
          <a:effectLst/>
          <a:effectLst>
            <a:outerShdw blurRad="90000" dist="40000" dir="5400000" rotWithShape="0">
              <a:srgbClr val="1B12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1968" y="1746504"/>
            <a:ext cx="2157984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Ponte (Evolution)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01968" y="2167128"/>
            <a:ext cx="2157984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FFFFFF"/>
                </a:solidFill>
                <a:latin typeface="Segoe UI"/>
              </a:rPr>
              <a:t>Envia as mensagens
no WhatsApp</a:t>
            </a:r>
          </a:p>
        </p:txBody>
      </p:sp>
      <p:sp>
        <p:nvSpPr>
          <p:cNvPr id="17" name="Chevron 16"/>
          <p:cNvSpPr/>
          <p:nvPr/>
        </p:nvSpPr>
        <p:spPr>
          <a:xfrm>
            <a:off x="8915400" y="2011680"/>
            <a:ext cx="457200" cy="365760"/>
          </a:xfrm>
          <a:prstGeom prst="chevron">
            <a:avLst/>
          </a:prstGeom>
          <a:solidFill>
            <a:srgbClr val="F24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464040" y="1600200"/>
            <a:ext cx="2148840" cy="1188720"/>
          </a:xfrm>
          <a:prstGeom prst="roundRect">
            <a:avLst/>
          </a:prstGeom>
          <a:solidFill>
            <a:srgbClr val="E5007E"/>
          </a:solidFill>
          <a:ln>
            <a:noFill/>
          </a:ln>
          <a:effectLst/>
          <a:effectLst>
            <a:outerShdw blurRad="90000" dist="40000" dir="5400000" rotWithShape="0">
              <a:srgbClr val="1B12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73768" y="1746504"/>
            <a:ext cx="1929384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Grupos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73768" y="2167128"/>
            <a:ext cx="1929384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FFFFFF"/>
                </a:solidFill>
                <a:latin typeface="Segoe UI"/>
              </a:rPr>
              <a:t>Times recebem
o aviso certo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200400"/>
            <a:ext cx="5394960" cy="2788920"/>
          </a:xfrm>
          <a:prstGeom prst="roundRect">
            <a:avLst/>
          </a:prstGeom>
          <a:solidFill>
            <a:srgbClr val="F6F4FB"/>
          </a:solidFill>
          <a:ln w="12700">
            <a:solidFill>
              <a:srgbClr val="E3DDF0"/>
            </a:solidFill>
          </a:ln>
          <a:effectLst/>
          <a:effectLst>
            <a:outerShdw blurRad="90000" dist="40000" dir="5400000" rotWithShape="0">
              <a:srgbClr val="1B12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342900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4C127A"/>
                </a:solidFill>
                <a:latin typeface="Segoe UI"/>
              </a:rPr>
              <a:t>Reports por Empresa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388620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E5007E"/>
                </a:solidFill>
                <a:latin typeface="Segoe UI"/>
              </a:rPr>
              <a:t>Um grupo por empresa · foco Goiânia</a:t>
            </a:r>
          </a:p>
        </p:txBody>
      </p:sp>
      <p:sp>
        <p:nvSpPr>
          <p:cNvPr id="24" name="Oval 23"/>
          <p:cNvSpPr/>
          <p:nvPr/>
        </p:nvSpPr>
        <p:spPr>
          <a:xfrm>
            <a:off x="868680" y="4407408"/>
            <a:ext cx="100584" cy="100584"/>
          </a:xfrm>
          <a:prstGeom prst="ellipse">
            <a:avLst/>
          </a:prstGeom>
          <a:solidFill>
            <a:srgbClr val="E5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24712" y="4343400"/>
            <a:ext cx="449884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211B3A"/>
                </a:solidFill>
                <a:latin typeface="Segoe UI"/>
              </a:rPr>
              <a:t>ABILITY, ONDACOM, TELEMONT, TEL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" y="4828032"/>
            <a:ext cx="100584" cy="100584"/>
          </a:xfrm>
          <a:prstGeom prst="ellipse">
            <a:avLst/>
          </a:prstGeom>
          <a:solidFill>
            <a:srgbClr val="E5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24712" y="4764024"/>
            <a:ext cx="449884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211B3A"/>
                </a:solidFill>
                <a:latin typeface="Segoe UI"/>
              </a:rPr>
              <a:t>Cada empresa recebe só as ocorrências dela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3200400"/>
            <a:ext cx="5394960" cy="2788920"/>
          </a:xfrm>
          <a:prstGeom prst="roundRect">
            <a:avLst/>
          </a:prstGeom>
          <a:solidFill>
            <a:srgbClr val="FCF1F7"/>
          </a:solidFill>
          <a:ln w="12700">
            <a:solidFill>
              <a:srgbClr val="F3CFE4"/>
            </a:solidFill>
          </a:ln>
          <a:effectLst/>
          <a:effectLst>
            <a:outerShdw blurRad="90000" dist="40000" dir="5400000" rotWithShape="0">
              <a:srgbClr val="1B12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0" y="342900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E5007E"/>
                </a:solidFill>
                <a:latin typeface="Segoe UI"/>
              </a:rPr>
              <a:t>Reports Regional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388620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E5007E"/>
                </a:solidFill>
                <a:latin typeface="Segoe UI"/>
              </a:rPr>
              <a:t>Grupo único · afetação alta (≥ 70)</a:t>
            </a:r>
          </a:p>
        </p:txBody>
      </p:sp>
      <p:sp>
        <p:nvSpPr>
          <p:cNvPr id="31" name="Oval 30"/>
          <p:cNvSpPr/>
          <p:nvPr/>
        </p:nvSpPr>
        <p:spPr>
          <a:xfrm>
            <a:off x="6583680" y="4407408"/>
            <a:ext cx="100584" cy="100584"/>
          </a:xfrm>
          <a:prstGeom prst="ellipse">
            <a:avLst/>
          </a:prstGeom>
          <a:solidFill>
            <a:srgbClr val="E5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39712" y="4343400"/>
            <a:ext cx="449884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211B3A"/>
                </a:solidFill>
                <a:latin typeface="Segoe UI"/>
              </a:rPr>
              <a:t>Qualquer empresa, qualquer região</a:t>
            </a:r>
          </a:p>
        </p:txBody>
      </p:sp>
      <p:sp>
        <p:nvSpPr>
          <p:cNvPr id="33" name="Oval 32"/>
          <p:cNvSpPr/>
          <p:nvPr/>
        </p:nvSpPr>
        <p:spPr>
          <a:xfrm>
            <a:off x="6583680" y="4828032"/>
            <a:ext cx="100584" cy="100584"/>
          </a:xfrm>
          <a:prstGeom prst="ellipse">
            <a:avLst/>
          </a:prstGeom>
          <a:solidFill>
            <a:srgbClr val="E5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39712" y="4764024"/>
            <a:ext cx="449884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211B3A"/>
                </a:solidFill>
                <a:latin typeface="Segoe UI"/>
              </a:rPr>
              <a:t>Enviado por um número de WhatsApp próprio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AA1AD"/>
                </a:solidFill>
                <a:latin typeface="Segoe UI"/>
              </a:rPr>
              <a:t>VIGO · Vistoria de Ocorrências de Grande Vulto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424160" y="6455664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AA1AD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5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E5007E"/>
                </a:solidFill>
                <a:latin typeface="Segoe UI"/>
              </a:rPr>
              <a:t>MÓDULO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4C127A"/>
                </a:solidFill>
                <a:latin typeface="Segoe UI"/>
              </a:rPr>
              <a:t>Reports por Empresa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6B7280"/>
                </a:solidFill>
                <a:latin typeface="Segoe UI"/>
              </a:rPr>
              <a:t>Um grupo de WhatsApp por empresa contratada. Liga/desliga e filtros por empresa.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57400"/>
            <a:ext cx="11091672" cy="4160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3DDF0"/>
            </a:solidFill>
          </a:ln>
          <a:effectLst/>
          <a:effectLst>
            <a:outerShdw blurRad="90000" dist="40000" dir="5400000" rotWithShape="0">
              <a:srgbClr val="1B12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611880"/>
            <a:ext cx="11091672" cy="10972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9AA1AD"/>
                </a:solidFill>
                <a:latin typeface="Segoe UI"/>
              </a:rPr>
              <a:t>🖼️  PRINT AQUI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9AA1AD"/>
                </a:solidFill>
                <a:latin typeface="Segoe UI"/>
              </a:rPr>
              <a:t>salve como  shots/04-reports-empresas.png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2636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E5007E"/>
                </a:solidFill>
                <a:latin typeface="Segoe UI"/>
              </a:rPr>
              <a:t>Tela: /admin/reports-empresas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AA1AD"/>
                </a:solidFill>
                <a:latin typeface="Segoe UI"/>
              </a:rPr>
              <a:t>VIGO · Vistoria de Ocorrências de Grande Vulto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0" y="6455664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AA1AD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5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E5007E"/>
                </a:solidFill>
                <a:latin typeface="Segoe UI"/>
              </a:rPr>
              <a:t>MÓDULO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4C127A"/>
                </a:solidFill>
                <a:latin typeface="Segoe UI"/>
              </a:rPr>
              <a:t>Reports Regional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6B7280"/>
                </a:solidFill>
                <a:latin typeface="Segoe UI"/>
              </a:rPr>
              <a:t>Grupo único para toda ocorrência de afetação alta (≥ 70), de qualquer empresa.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57400"/>
            <a:ext cx="11091672" cy="4160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3DDF0"/>
            </a:solidFill>
          </a:ln>
          <a:effectLst/>
          <a:effectLst>
            <a:outerShdw blurRad="90000" dist="40000" dir="5400000" rotWithShape="0">
              <a:srgbClr val="1B12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611880"/>
            <a:ext cx="11091672" cy="10972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9AA1AD"/>
                </a:solidFill>
                <a:latin typeface="Segoe UI"/>
              </a:rPr>
              <a:t>🖼️  PRINT AQUI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9AA1AD"/>
                </a:solidFill>
                <a:latin typeface="Segoe UI"/>
              </a:rPr>
              <a:t>salve como  shots/05-reports-regional.png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2636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E5007E"/>
                </a:solidFill>
                <a:latin typeface="Segoe UI"/>
              </a:rPr>
              <a:t>Tela: /admin/reports-regional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AA1AD"/>
                </a:solidFill>
                <a:latin typeface="Segoe UI"/>
              </a:rPr>
              <a:t>VIGO · Vistoria de Ocorrências de Grande Vulto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0" y="6455664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AA1AD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5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E5007E"/>
                </a:solidFill>
                <a:latin typeface="Segoe UI"/>
              </a:rPr>
              <a:t>NÚMERO PRÓPRIO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4C127A"/>
                </a:solidFill>
                <a:latin typeface="Segoe UI"/>
              </a:rPr>
              <a:t>Cadastro do número regional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6B7280"/>
                </a:solidFill>
                <a:latin typeface="Segoe UI"/>
              </a:rPr>
              <a:t>Página isolada, com senha própria, onde se conecta o número novo e escolhe o grupo.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57400"/>
            <a:ext cx="11091672" cy="4160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3DDF0"/>
            </a:solidFill>
          </a:ln>
          <a:effectLst/>
          <a:effectLst>
            <a:outerShdw blurRad="90000" dist="40000" dir="5400000" rotWithShape="0">
              <a:srgbClr val="1B12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611880"/>
            <a:ext cx="11091672" cy="10972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9AA1AD"/>
                </a:solidFill>
                <a:latin typeface="Segoe UI"/>
              </a:rPr>
              <a:t>🖼️  PRINT AQUI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9AA1AD"/>
                </a:solidFill>
                <a:latin typeface="Segoe UI"/>
              </a:rPr>
              <a:t>salve como  shots/06-regional-cadastro.png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2636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E5007E"/>
                </a:solidFill>
                <a:latin typeface="Segoe UI"/>
              </a:rPr>
              <a:t>Tela: /regional (reportb2b)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AA1AD"/>
                </a:solidFill>
                <a:latin typeface="Segoe UI"/>
              </a:rPr>
              <a:t>VIGO · Vistoria de Ocorrências de Grande Vulto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0" y="6455664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AA1AD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5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E5007E"/>
                </a:solidFill>
                <a:latin typeface="Segoe UI"/>
              </a:rPr>
              <a:t>O QUE EVITA DOR DE CABEÇA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4C127A"/>
                </a:solidFill>
                <a:latin typeface="Segoe UI"/>
              </a:rPr>
              <a:t>Regras que protegem a operação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5486400" cy="1965960"/>
          </a:xfrm>
          <a:prstGeom prst="roundRect">
            <a:avLst/>
          </a:prstGeom>
          <a:solidFill>
            <a:srgbClr val="F6F4FB"/>
          </a:solidFill>
          <a:ln w="12700">
            <a:solidFill>
              <a:srgbClr val="E3DDF0"/>
            </a:solidFill>
          </a:ln>
          <a:effectLst/>
          <a:effectLst>
            <a:outerShdw blurRad="90000" dist="40000" dir="5400000" rotWithShape="0">
              <a:srgbClr val="1B12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56816"/>
            <a:ext cx="82296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0">
                <a:solidFill>
                  <a:srgbClr val="211B3A"/>
                </a:solidFill>
                <a:latin typeface="Segoe UI"/>
              </a:rPr>
              <a:t>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199339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4C127A"/>
                </a:solidFill>
                <a:latin typeface="Segoe UI"/>
              </a:rPr>
              <a:t>Nada acumula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487168"/>
            <a:ext cx="416052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6B7280"/>
                </a:solidFill>
                <a:latin typeface="Segoe UI"/>
              </a:rPr>
              <a:t>Só vira mensagem o que entra com o envio ligado. Ninguém recebe enxurrada de aviso atrasado.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737360"/>
            <a:ext cx="5486400" cy="1965960"/>
          </a:xfrm>
          <a:prstGeom prst="roundRect">
            <a:avLst/>
          </a:prstGeom>
          <a:solidFill>
            <a:srgbClr val="F6F4FB"/>
          </a:solidFill>
          <a:ln w="12700">
            <a:solidFill>
              <a:srgbClr val="E3DDF0"/>
            </a:solidFill>
          </a:ln>
          <a:effectLst/>
          <a:effectLst>
            <a:outerShdw blurRad="90000" dist="40000" dir="5400000" rotWithShape="0">
              <a:srgbClr val="1B12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1956816"/>
            <a:ext cx="82296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0">
                <a:solidFill>
                  <a:srgbClr val="211B3A"/>
                </a:solidFill>
                <a:latin typeface="Segoe UI"/>
              </a:rPr>
              <a:t>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199339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4C127A"/>
                </a:solidFill>
                <a:latin typeface="Segoe UI"/>
              </a:rPr>
              <a:t>Escalada automática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2487168"/>
            <a:ext cx="416052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6B7280"/>
                </a:solidFill>
                <a:latin typeface="Segoe UI"/>
              </a:rPr>
              <a:t>Ocorrência parada é cobrada sozinha: passou de 12h, cobra a cada 2h; de 24h, a cada 1h.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977640"/>
            <a:ext cx="5486400" cy="1965960"/>
          </a:xfrm>
          <a:prstGeom prst="roundRect">
            <a:avLst/>
          </a:prstGeom>
          <a:solidFill>
            <a:srgbClr val="F6F4FB"/>
          </a:solidFill>
          <a:ln w="12700">
            <a:solidFill>
              <a:srgbClr val="E3DDF0"/>
            </a:solidFill>
          </a:ln>
          <a:effectLst/>
          <a:effectLst>
            <a:outerShdw blurRad="90000" dist="40000" dir="5400000" rotWithShape="0">
              <a:srgbClr val="1B12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197096"/>
            <a:ext cx="82296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0">
                <a:solidFill>
                  <a:srgbClr val="211B3A"/>
                </a:solidFill>
                <a:latin typeface="Segoe UI"/>
              </a:rPr>
              <a:t>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423367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4C127A"/>
                </a:solidFill>
                <a:latin typeface="Segoe UI"/>
              </a:rPr>
              <a:t>Sem grupo? Descarta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727448"/>
            <a:ext cx="416052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6B7280"/>
                </a:solidFill>
                <a:latin typeface="Segoe UI"/>
              </a:rPr>
              <a:t>Se o grupo ainda não existe, o aviso é descartado — o grupo nasce limpo quando for criado.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3977640"/>
            <a:ext cx="5486400" cy="1965960"/>
          </a:xfrm>
          <a:prstGeom prst="roundRect">
            <a:avLst/>
          </a:prstGeom>
          <a:solidFill>
            <a:srgbClr val="F6F4FB"/>
          </a:solidFill>
          <a:ln w="12700">
            <a:solidFill>
              <a:srgbClr val="E3DDF0"/>
            </a:solidFill>
          </a:ln>
          <a:effectLst/>
          <a:effectLst>
            <a:outerShdw blurRad="90000" dist="40000" dir="5400000" rotWithShape="0">
              <a:srgbClr val="1B12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9400" y="4197096"/>
            <a:ext cx="82296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0">
                <a:solidFill>
                  <a:srgbClr val="211B3A"/>
                </a:solidFill>
                <a:latin typeface="Segoe UI"/>
              </a:rPr>
              <a:t>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423367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4C127A"/>
                </a:solidFill>
                <a:latin typeface="Segoe UI"/>
              </a:rPr>
              <a:t>Módulos isolados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4727448"/>
            <a:ext cx="416052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6B7280"/>
                </a:solidFill>
                <a:latin typeface="Segoe UI"/>
              </a:rPr>
              <a:t>Empresa e Regional têm base, número e configuração próprios. Mexer em um não afeta o outro.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AA1AD"/>
                </a:solidFill>
                <a:latin typeface="Segoe UI"/>
              </a:rPr>
              <a:t>VIGO · Vistoria de Ocorrências de Grande Vulto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455664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AA1AD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C1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5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24AA8"/>
                </a:solidFill>
                <a:latin typeface="Segoe UI"/>
              </a:rPr>
              <a:t>RESULTADO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2296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Segoe UI"/>
              </a:rPr>
              <a:t>O que a operação ganha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486400" cy="1325880"/>
          </a:xfrm>
          <a:prstGeom prst="roundRect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2103120"/>
            <a:ext cx="118872" cy="777240"/>
          </a:xfrm>
          <a:prstGeom prst="rect">
            <a:avLst/>
          </a:prstGeom>
          <a:solidFill>
            <a:srgbClr val="E5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029968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Visibilidade em tempo real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87168"/>
            <a:ext cx="475488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D9CFEC"/>
                </a:solidFill>
                <a:latin typeface="Segoe UI"/>
              </a:rPr>
              <a:t>A ocorrência certa aparece na hora, para o time certo.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828800"/>
            <a:ext cx="5486400" cy="1325880"/>
          </a:xfrm>
          <a:prstGeom prst="roundRect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74536" y="2103120"/>
            <a:ext cx="118872" cy="777240"/>
          </a:xfrm>
          <a:prstGeom prst="rect">
            <a:avLst/>
          </a:prstGeom>
          <a:solidFill>
            <a:srgbClr val="E5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029968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Cobrança que não esquece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2487168"/>
            <a:ext cx="475488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D9CFEC"/>
                </a:solidFill>
                <a:latin typeface="Segoe UI"/>
              </a:rPr>
              <a:t>A escalada não depende de alguém lembrar de cobrar.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55848"/>
            <a:ext cx="5486400" cy="1325880"/>
          </a:xfrm>
          <a:prstGeom prst="roundRect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8096" y="3630168"/>
            <a:ext cx="118872" cy="777240"/>
          </a:xfrm>
          <a:prstGeom prst="rect">
            <a:avLst/>
          </a:prstGeom>
          <a:solidFill>
            <a:srgbClr val="E5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557016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Padrão e auditoria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014216"/>
            <a:ext cx="475488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D9CFEC"/>
                </a:solidFill>
                <a:latin typeface="Segoe UI"/>
              </a:rPr>
              <a:t>Toda vistoria registrada, rastreável e comparável.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3355848"/>
            <a:ext cx="5486400" cy="1325880"/>
          </a:xfrm>
          <a:prstGeom prst="roundRect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74536" y="3630168"/>
            <a:ext cx="118872" cy="777240"/>
          </a:xfrm>
          <a:prstGeom prst="rect">
            <a:avLst/>
          </a:prstGeom>
          <a:solidFill>
            <a:srgbClr val="E5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0" y="3557016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Sem ruído no WhatsApp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4014216"/>
            <a:ext cx="475488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D9CFEC"/>
                </a:solidFill>
                <a:latin typeface="Segoe UI"/>
              </a:rPr>
              <a:t>Cada grupo recebe só o que é dele — e nunca atrasado em bloco.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882896"/>
            <a:ext cx="5486400" cy="1325880"/>
          </a:xfrm>
          <a:prstGeom prst="roundRect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68096" y="5157216"/>
            <a:ext cx="118872" cy="777240"/>
          </a:xfrm>
          <a:prstGeom prst="rect">
            <a:avLst/>
          </a:prstGeom>
          <a:solidFill>
            <a:srgbClr val="E5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5084064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Escala sem retrabalho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541264"/>
            <a:ext cx="475488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D9CFEC"/>
                </a:solidFill>
                <a:latin typeface="Segoe UI"/>
              </a:rPr>
              <a:t>Novos grupos e números entram por configuração, não por código.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55080" y="4882896"/>
            <a:ext cx="5486400" cy="1325880"/>
          </a:xfrm>
          <a:prstGeom prst="roundRect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74536" y="5157216"/>
            <a:ext cx="118872" cy="777240"/>
          </a:xfrm>
          <a:prstGeom prst="rect">
            <a:avLst/>
          </a:prstGeom>
          <a:solidFill>
            <a:srgbClr val="E5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0" y="5084064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Módulos independentes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5541264"/>
            <a:ext cx="475488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D9CFEC"/>
                </a:solidFill>
                <a:latin typeface="Segoe UI"/>
              </a:rPr>
              <a:t>Goiânia (por empresa) e Regional convivem sem interferência.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C1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E5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Segoe UI"/>
              </a:rPr>
              <a:t>Obrigado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38328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D9CFEC"/>
                </a:solidFill>
                <a:latin typeface="Segoe UI"/>
              </a:rPr>
              <a:t>VIGO · Vistoria de Ocorrências de Grande Vulto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9319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24AA8"/>
                </a:solidFill>
                <a:latin typeface="Segoe UI"/>
              </a:rPr>
              <a:t>Vistoria priorizada · Notificação automática · Cobrança inteligente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